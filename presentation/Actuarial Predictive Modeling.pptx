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5" r:id="rId6"/>
    <p:sldId id="266" r:id="rId7"/>
    <p:sldId id="260" r:id="rId8"/>
    <p:sldId id="261" r:id="rId9"/>
    <p:sldId id="262" r:id="rId10"/>
    <p:sldId id="264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608B"/>
    <a:srgbClr val="709679"/>
    <a:srgbClr val="5E896A"/>
    <a:srgbClr val="ECF2EB"/>
    <a:srgbClr val="E6ECF3"/>
    <a:srgbClr val="0099CC"/>
    <a:srgbClr val="000066"/>
    <a:srgbClr val="728653"/>
    <a:srgbClr val="003300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26" autoAdjust="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Actuarial Predictive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Joe Warth ‘13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tterbein University - Wikipedia">
            <a:extLst>
              <a:ext uri="{FF2B5EF4-FFF2-40B4-BE49-F238E27FC236}">
                <a16:creationId xmlns:a16="http://schemas.microsoft.com/office/drawing/2014/main" id="{5B6FFBDD-D479-5621-0674-7F7189EE8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15" y="4894905"/>
            <a:ext cx="1723302" cy="113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MU Statistics (@TAMUstats) / Posts / X">
            <a:extLst>
              <a:ext uri="{FF2B5EF4-FFF2-40B4-BE49-F238E27FC236}">
                <a16:creationId xmlns:a16="http://schemas.microsoft.com/office/drawing/2014/main" id="{4E5E5B54-E6A1-29F2-DDD1-21BA89D1C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245" y="4746575"/>
            <a:ext cx="1434037" cy="143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14D362-19BA-EF3F-935E-B3A98393B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188" y="346205"/>
            <a:ext cx="3967042" cy="4470641"/>
          </a:xfrm>
          <a:prstGeom prst="rect">
            <a:avLst/>
          </a:prstGeom>
        </p:spPr>
      </p:pic>
      <p:pic>
        <p:nvPicPr>
          <p:cNvPr id="1030" name="Picture 6" descr="State Auto Insurance">
            <a:extLst>
              <a:ext uri="{FF2B5EF4-FFF2-40B4-BE49-F238E27FC236}">
                <a16:creationId xmlns:a16="http://schemas.microsoft.com/office/drawing/2014/main" id="{EE69132B-70AA-97F0-AE85-0A5FF6483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449" y="5208711"/>
            <a:ext cx="1606535" cy="107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iberty Mutual: A trusted insurance ...">
            <a:extLst>
              <a:ext uri="{FF2B5EF4-FFF2-40B4-BE49-F238E27FC236}">
                <a16:creationId xmlns:a16="http://schemas.microsoft.com/office/drawing/2014/main" id="{85186DE2-4EA1-DAEF-97A4-67F7DDD660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84" b="17851"/>
          <a:stretch>
            <a:fillRect/>
          </a:stretch>
        </p:blipFill>
        <p:spPr bwMode="auto">
          <a:xfrm>
            <a:off x="7103095" y="5268169"/>
            <a:ext cx="1606535" cy="95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mTrust Financial Services - Stone Point">
            <a:extLst>
              <a:ext uri="{FF2B5EF4-FFF2-40B4-BE49-F238E27FC236}">
                <a16:creationId xmlns:a16="http://schemas.microsoft.com/office/drawing/2014/main" id="{B43B2172-B3E7-2DF5-C27B-ECEB05A6D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" t="32465" r="9561" b="25409"/>
          <a:stretch>
            <a:fillRect/>
          </a:stretch>
        </p:blipFill>
        <p:spPr bwMode="auto">
          <a:xfrm>
            <a:off x="8841741" y="5353009"/>
            <a:ext cx="2036140" cy="78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F5FE01-D35A-9FE3-E09C-E8E76BD1D6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7" t="19232" r="4502" b="9977"/>
          <a:stretch>
            <a:fillRect/>
          </a:stretch>
        </p:blipFill>
        <p:spPr>
          <a:xfrm>
            <a:off x="444075" y="1249780"/>
            <a:ext cx="4600788" cy="2872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B001C5-A76B-FCBF-9A67-84D44EF41F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795" y="2007137"/>
            <a:ext cx="3239555" cy="2429666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C8E1636-228B-6F94-04AA-12F3FE06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5" y="350768"/>
            <a:ext cx="8911687" cy="743595"/>
          </a:xfrm>
        </p:spPr>
        <p:txBody>
          <a:bodyPr/>
          <a:lstStyle/>
          <a:p>
            <a:r>
              <a:rPr lang="en-US" dirty="0"/>
              <a:t>About Me</a:t>
            </a:r>
          </a:p>
        </p:txBody>
      </p:sp>
      <p:pic>
        <p:nvPicPr>
          <p:cNvPr id="1036" name="Picture 12" descr="Edible 2D Fondant Cake Cupcake Topper ...">
            <a:extLst>
              <a:ext uri="{FF2B5EF4-FFF2-40B4-BE49-F238E27FC236}">
                <a16:creationId xmlns:a16="http://schemas.microsoft.com/office/drawing/2014/main" id="{E5F4D59E-AF74-FCF7-E8CD-134A112DB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8481" y="4041256"/>
            <a:ext cx="770454" cy="85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60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79FF-914D-E0DE-A4EA-5F004BB3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Begin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985629-8761-E75B-9A7D-C1F8A8BD4D1A}"/>
              </a:ext>
            </a:extLst>
          </p:cNvPr>
          <p:cNvSpPr/>
          <p:nvPr/>
        </p:nvSpPr>
        <p:spPr>
          <a:xfrm>
            <a:off x="798243" y="2040859"/>
            <a:ext cx="3200400" cy="2286000"/>
          </a:xfrm>
          <a:prstGeom prst="roundRect">
            <a:avLst/>
          </a:prstGeom>
          <a:solidFill>
            <a:srgbClr val="E6EC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3B608B"/>
                </a:solidFill>
              </a:rPr>
              <a:t>Where this fits</a:t>
            </a:r>
            <a:endParaRPr lang="en-US" dirty="0">
              <a:solidFill>
                <a:srgbClr val="3B608B"/>
              </a:solidFill>
            </a:endParaRPr>
          </a:p>
          <a:p>
            <a:r>
              <a:rPr lang="en-US" sz="1400" i="1" dirty="0">
                <a:solidFill>
                  <a:srgbClr val="3B608B"/>
                </a:solidFill>
              </a:rPr>
              <a:t>ACAS &amp; FCAS Exam Track</a:t>
            </a:r>
          </a:p>
          <a:p>
            <a:endParaRPr lang="en-US" sz="1400" b="1" dirty="0">
              <a:solidFill>
                <a:srgbClr val="3B608B"/>
              </a:solidFill>
            </a:endParaRPr>
          </a:p>
          <a:p>
            <a:r>
              <a:rPr lang="en-US" sz="1400" b="1" dirty="0">
                <a:solidFill>
                  <a:srgbClr val="3B608B"/>
                </a:solidFill>
              </a:rPr>
              <a:t>MAS-I &amp; II</a:t>
            </a:r>
            <a:r>
              <a:rPr lang="en-US" sz="1400" dirty="0">
                <a:solidFill>
                  <a:srgbClr val="3B608B"/>
                </a:solidFill>
              </a:rPr>
              <a:t>: predictive modeling methods</a:t>
            </a:r>
          </a:p>
          <a:p>
            <a:r>
              <a:rPr lang="en-US" sz="1400" b="1" dirty="0">
                <a:solidFill>
                  <a:srgbClr val="3B608B"/>
                </a:solidFill>
              </a:rPr>
              <a:t>Exam 5</a:t>
            </a:r>
            <a:r>
              <a:rPr lang="en-US" sz="1400" dirty="0">
                <a:solidFill>
                  <a:srgbClr val="3B608B"/>
                </a:solidFill>
              </a:rPr>
              <a:t>: Ratemaking Basics</a:t>
            </a:r>
          </a:p>
          <a:p>
            <a:r>
              <a:rPr lang="en-US" sz="1400" b="1" dirty="0">
                <a:solidFill>
                  <a:srgbClr val="3B608B"/>
                </a:solidFill>
              </a:rPr>
              <a:t>PCPA Module</a:t>
            </a:r>
            <a:r>
              <a:rPr lang="en-US" sz="1400" dirty="0">
                <a:solidFill>
                  <a:srgbClr val="3B608B"/>
                </a:solidFill>
              </a:rPr>
              <a:t>: GLMs</a:t>
            </a:r>
          </a:p>
          <a:p>
            <a:r>
              <a:rPr lang="en-US" sz="1400" b="1" dirty="0">
                <a:solidFill>
                  <a:srgbClr val="3B608B"/>
                </a:solidFill>
              </a:rPr>
              <a:t>Exam 8</a:t>
            </a:r>
            <a:r>
              <a:rPr lang="en-US" sz="1400" dirty="0">
                <a:solidFill>
                  <a:srgbClr val="3B608B"/>
                </a:solidFill>
              </a:rPr>
              <a:t>: Advanced Ratemaking &amp; Modeling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rgbClr val="3B608B"/>
                </a:solidFill>
              </a:rPr>
              <a:t>Python</a:t>
            </a:r>
            <a:r>
              <a:rPr lang="en-US" sz="1400" dirty="0">
                <a:solidFill>
                  <a:srgbClr val="3B608B"/>
                </a:solidFill>
              </a:rPr>
              <a:t>: </a:t>
            </a:r>
            <a:r>
              <a:rPr lang="en-US" sz="1400" i="1" dirty="0">
                <a:solidFill>
                  <a:srgbClr val="3B608B"/>
                </a:solidFill>
              </a:rPr>
              <a:t>Not</a:t>
            </a:r>
            <a:r>
              <a:rPr lang="en-US" sz="1400" dirty="0">
                <a:solidFill>
                  <a:srgbClr val="3B608B"/>
                </a:solidFill>
              </a:rPr>
              <a:t> covered in exams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88B881-2A15-E682-FCA1-90A381151A2C}"/>
              </a:ext>
            </a:extLst>
          </p:cNvPr>
          <p:cNvSpPr/>
          <p:nvPr/>
        </p:nvSpPr>
        <p:spPr>
          <a:xfrm>
            <a:off x="4495800" y="2040859"/>
            <a:ext cx="3200400" cy="2286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What I knew in 2013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terminology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Did NOT know most of this 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Learned it gradually on the job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FB7E15-AE09-AA5D-77FA-B8EAA9FED31B}"/>
              </a:ext>
            </a:extLst>
          </p:cNvPr>
          <p:cNvSpPr/>
          <p:nvPr/>
        </p:nvSpPr>
        <p:spPr>
          <a:xfrm>
            <a:off x="8193357" y="2040859"/>
            <a:ext cx="3200400" cy="2286000"/>
          </a:xfrm>
          <a:prstGeom prst="roundRect">
            <a:avLst/>
          </a:prstGeom>
          <a:solidFill>
            <a:srgbClr val="ECF2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709679"/>
                </a:solidFill>
              </a:rPr>
              <a:t>For Today</a:t>
            </a:r>
            <a:endParaRPr lang="en-US" dirty="0">
              <a:solidFill>
                <a:srgbClr val="70967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9679"/>
                </a:solidFill>
              </a:rPr>
              <a:t>Only have about 45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9679"/>
                </a:solidFill>
              </a:rPr>
              <a:t>Moving quickly, covering too much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9679"/>
                </a:solidFill>
              </a:rPr>
              <a:t>This is what I wish I knew about before I started 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709679"/>
                </a:solidFill>
              </a:rPr>
              <a:t>Please stop me with questions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F1681F-15D2-0E0C-AC2E-7999E34368FE}"/>
              </a:ext>
            </a:extLst>
          </p:cNvPr>
          <p:cNvSpPr/>
          <p:nvPr/>
        </p:nvSpPr>
        <p:spPr>
          <a:xfrm>
            <a:off x="742508" y="4946187"/>
            <a:ext cx="10767944" cy="5791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Goal: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Understand the business problem and the modeling intuition- not understand every detail</a:t>
            </a:r>
            <a:endParaRPr 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105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3769-D27E-232E-CBDB-7015CDA6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Insurance 101: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2BB5E-DB9B-4794-3D4B-BF681C5E5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Customers pay </a:t>
            </a:r>
            <a:r>
              <a:rPr lang="en-US" sz="1800" b="1" dirty="0"/>
              <a:t>Premium</a:t>
            </a:r>
            <a:r>
              <a:rPr lang="en-US" sz="1800" dirty="0"/>
              <a:t> before we know what the policy will ultimately cost. During the </a:t>
            </a:r>
            <a:r>
              <a:rPr lang="en-US" sz="1800" b="1" dirty="0"/>
              <a:t>Exposure </a:t>
            </a:r>
            <a:r>
              <a:rPr lang="en-US" sz="1800" dirty="0"/>
              <a:t>period, a covered event may produce a </a:t>
            </a:r>
            <a:r>
              <a:rPr lang="en-US" sz="1800" b="1" dirty="0"/>
              <a:t>Claim</a:t>
            </a:r>
            <a:r>
              <a:rPr lang="en-US" sz="1800" dirty="0"/>
              <a:t> and a resulting </a:t>
            </a:r>
            <a:r>
              <a:rPr lang="en-US" sz="1800" b="1" dirty="0"/>
              <a:t>Loss</a:t>
            </a:r>
            <a:r>
              <a:rPr lang="en-US" sz="1800" dirty="0"/>
              <a:t>. The insurer incurs </a:t>
            </a:r>
            <a:r>
              <a:rPr lang="en-US" sz="1800" b="1" dirty="0"/>
              <a:t>Expense</a:t>
            </a:r>
            <a:r>
              <a:rPr lang="en-US" sz="1800" dirty="0"/>
              <a:t> to operate as a business</a:t>
            </a:r>
          </a:p>
          <a:p>
            <a:pPr marL="0" indent="0" algn="ctr">
              <a:buNone/>
            </a:pPr>
            <a:endParaRPr lang="en-US" sz="18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92F5C-5ED8-F931-0261-676C24559D9B}"/>
              </a:ext>
            </a:extLst>
          </p:cNvPr>
          <p:cNvSpPr txBox="1"/>
          <p:nvPr/>
        </p:nvSpPr>
        <p:spPr>
          <a:xfrm>
            <a:off x="2032168" y="3429000"/>
            <a:ext cx="1376978" cy="2002536"/>
          </a:xfrm>
          <a:prstGeom prst="rect">
            <a:avLst/>
          </a:prstGeom>
          <a:solidFill>
            <a:srgbClr val="728653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Premium</a:t>
            </a:r>
            <a:endParaRPr lang="en-US" sz="16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Amount charged for the policy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FD77E-051F-F952-F428-F90D61A7C0A7}"/>
              </a:ext>
            </a:extLst>
          </p:cNvPr>
          <p:cNvSpPr txBox="1"/>
          <p:nvPr/>
        </p:nvSpPr>
        <p:spPr>
          <a:xfrm>
            <a:off x="3739943" y="3429000"/>
            <a:ext cx="1376978" cy="2002536"/>
          </a:xfrm>
          <a:prstGeom prst="rect">
            <a:avLst/>
          </a:prstGeom>
          <a:solidFill>
            <a:srgbClr val="728653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Exposure</a:t>
            </a:r>
            <a:endParaRPr lang="en-US" sz="16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Unit of risk over a period of time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23E477-1B62-92AE-91A4-7DA8B315857C}"/>
              </a:ext>
            </a:extLst>
          </p:cNvPr>
          <p:cNvSpPr txBox="1"/>
          <p:nvPr/>
        </p:nvSpPr>
        <p:spPr>
          <a:xfrm>
            <a:off x="5447718" y="3429000"/>
            <a:ext cx="1376978" cy="2002536"/>
          </a:xfrm>
          <a:prstGeom prst="rect">
            <a:avLst/>
          </a:prstGeom>
          <a:solidFill>
            <a:srgbClr val="728653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Claim</a:t>
            </a:r>
            <a:endParaRPr lang="en-US" sz="16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Covered event reported to the insurer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E9C09-444E-8DBD-15D2-966884EF94A4}"/>
              </a:ext>
            </a:extLst>
          </p:cNvPr>
          <p:cNvSpPr txBox="1"/>
          <p:nvPr/>
        </p:nvSpPr>
        <p:spPr>
          <a:xfrm>
            <a:off x="7153702" y="3429000"/>
            <a:ext cx="1376978" cy="2002536"/>
          </a:xfrm>
          <a:prstGeom prst="rect">
            <a:avLst/>
          </a:prstGeom>
          <a:solidFill>
            <a:srgbClr val="728653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Loss</a:t>
            </a:r>
            <a:endParaRPr lang="en-US" sz="16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Cost of resolving a claim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83B567-A4AF-56D0-5EB7-EFE10289DD45}"/>
              </a:ext>
            </a:extLst>
          </p:cNvPr>
          <p:cNvSpPr txBox="1"/>
          <p:nvPr/>
        </p:nvSpPr>
        <p:spPr>
          <a:xfrm>
            <a:off x="8861477" y="3429000"/>
            <a:ext cx="1376978" cy="2002536"/>
          </a:xfrm>
          <a:prstGeom prst="rect">
            <a:avLst/>
          </a:prstGeom>
          <a:solidFill>
            <a:srgbClr val="728653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Expense</a:t>
            </a:r>
            <a:endParaRPr lang="en-US" sz="1600" b="1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Cost of operating the insurance business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964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F4E8-E188-5CF6-2EA2-19BDAA08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 for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D11A-AA88-669D-7436-970608B8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2" y="2045029"/>
            <a:ext cx="5396758" cy="87704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Core metrics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dirty="0"/>
              <a:t>How basic insurance measures become business metrics and modeling targets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i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E29929-BFD1-A3A1-7B73-84656E3675E1}"/>
              </a:ext>
            </a:extLst>
          </p:cNvPr>
          <p:cNvSpPr txBox="1">
            <a:spLocks/>
          </p:cNvSpPr>
          <p:nvPr/>
        </p:nvSpPr>
        <p:spPr>
          <a:xfrm>
            <a:off x="6642846" y="2049152"/>
            <a:ext cx="4254649" cy="417743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Different questions         Different targets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/>
              <a:t>A model starts with a business question, not the algorithm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i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Pricing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/>
              <a:t>Estimate expected cost of future policies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Pure Premium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Frequency &amp; Severity separately, multiply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Reserving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/>
              <a:t>Estimate ultimate cost of claims that have already occurred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Ultimate loss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Remaining loss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Underwriting / Risk Selection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/>
              <a:t>Identify accounts that may require additional attention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Claim Probability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Large-loss probability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Expected Loss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Expected Loss Ratio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3546643-C0DB-A7E4-FE47-2D99D846AB88}"/>
              </a:ext>
            </a:extLst>
          </p:cNvPr>
          <p:cNvSpPr/>
          <p:nvPr/>
        </p:nvSpPr>
        <p:spPr>
          <a:xfrm>
            <a:off x="8587291" y="2111548"/>
            <a:ext cx="365760" cy="262247"/>
          </a:xfrm>
          <a:prstGeom prst="rightArrow">
            <a:avLst>
              <a:gd name="adj1" fmla="val 50000"/>
              <a:gd name="adj2" fmla="val 529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A9E620-5781-F3CB-21FD-5D63B37F4F0B}"/>
              </a:ext>
            </a:extLst>
          </p:cNvPr>
          <p:cNvSpPr/>
          <p:nvPr/>
        </p:nvSpPr>
        <p:spPr>
          <a:xfrm>
            <a:off x="6533477" y="2841812"/>
            <a:ext cx="45719" cy="72165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5D1BDC-A885-32BE-D25E-EEF2DD05A8AE}"/>
              </a:ext>
            </a:extLst>
          </p:cNvPr>
          <p:cNvSpPr/>
          <p:nvPr/>
        </p:nvSpPr>
        <p:spPr>
          <a:xfrm>
            <a:off x="6533477" y="3873111"/>
            <a:ext cx="45719" cy="73152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64CAC0-E9BB-E9E7-35A3-178C8C004885}"/>
              </a:ext>
            </a:extLst>
          </p:cNvPr>
          <p:cNvSpPr/>
          <p:nvPr/>
        </p:nvSpPr>
        <p:spPr>
          <a:xfrm>
            <a:off x="6528886" y="4943688"/>
            <a:ext cx="45719" cy="109728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DD117B-F7D9-2748-4A00-8ADC09A642B3}"/>
              </a:ext>
            </a:extLst>
          </p:cNvPr>
          <p:cNvCxnSpPr>
            <a:cxnSpLocks/>
          </p:cNvCxnSpPr>
          <p:nvPr/>
        </p:nvCxnSpPr>
        <p:spPr>
          <a:xfrm>
            <a:off x="6424107" y="2680447"/>
            <a:ext cx="4885765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91478B-FE47-E15C-9888-F0D63A182767}"/>
              </a:ext>
            </a:extLst>
          </p:cNvPr>
          <p:cNvCxnSpPr>
            <a:cxnSpLocks/>
          </p:cNvCxnSpPr>
          <p:nvPr/>
        </p:nvCxnSpPr>
        <p:spPr>
          <a:xfrm>
            <a:off x="6424107" y="3756212"/>
            <a:ext cx="4885765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B4AC24-EC83-E153-6F97-B584CF0AB70E}"/>
              </a:ext>
            </a:extLst>
          </p:cNvPr>
          <p:cNvCxnSpPr>
            <a:cxnSpLocks/>
          </p:cNvCxnSpPr>
          <p:nvPr/>
        </p:nvCxnSpPr>
        <p:spPr>
          <a:xfrm>
            <a:off x="6424107" y="4774159"/>
            <a:ext cx="4885765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347AB59-3830-BD57-D9B6-B08945218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688933"/>
              </p:ext>
            </p:extLst>
          </p:nvPr>
        </p:nvGraphicFramePr>
        <p:xfrm>
          <a:off x="699242" y="2907201"/>
          <a:ext cx="5424099" cy="331938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22718">
                  <a:extLst>
                    <a:ext uri="{9D8B030D-6E8A-4147-A177-3AD203B41FA5}">
                      <a16:colId xmlns:a16="http://schemas.microsoft.com/office/drawing/2014/main" val="3765017702"/>
                    </a:ext>
                  </a:extLst>
                </a:gridCol>
                <a:gridCol w="4001381">
                  <a:extLst>
                    <a:ext uri="{9D8B030D-6E8A-4147-A177-3AD203B41FA5}">
                      <a16:colId xmlns:a16="http://schemas.microsoft.com/office/drawing/2014/main" val="519143590"/>
                    </a:ext>
                  </a:extLst>
                </a:gridCol>
              </a:tblGrid>
              <a:tr h="390845">
                <a:tc>
                  <a:txBody>
                    <a:bodyPr/>
                    <a:lstStyle/>
                    <a:p>
                      <a:r>
                        <a:rPr lang="en-US" sz="1400" b="0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Claim Count / Exposure</a:t>
                      </a:r>
                    </a:p>
                    <a:p>
                      <a:r>
                        <a:rPr lang="en-US" sz="1100" b="0" i="1" dirty="0"/>
                        <a:t>How often claims occur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826015"/>
                  </a:ext>
                </a:extLst>
              </a:tr>
              <a:tr h="528790">
                <a:tc>
                  <a:txBody>
                    <a:bodyPr/>
                    <a:lstStyle/>
                    <a:p>
                      <a:r>
                        <a:rPr lang="en-US" sz="1400" b="0" dirty="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Loss / Claim Count</a:t>
                      </a:r>
                    </a:p>
                    <a:p>
                      <a:r>
                        <a:rPr lang="en-US" sz="1100" b="0" i="1" dirty="0"/>
                        <a:t>Average cost when a claim occurs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241418"/>
                  </a:ext>
                </a:extLst>
              </a:tr>
              <a:tr h="574772">
                <a:tc>
                  <a:txBody>
                    <a:bodyPr/>
                    <a:lstStyle/>
                    <a:p>
                      <a:r>
                        <a:rPr lang="en-US" sz="1400" b="0" dirty="0"/>
                        <a:t>Pure Premium</a:t>
                      </a:r>
                    </a:p>
                    <a:p>
                      <a:r>
                        <a:rPr lang="en-US" sz="1200" b="0" dirty="0"/>
                        <a:t>(aka Loss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Loss / Exposure = Frequency * Severity</a:t>
                      </a:r>
                    </a:p>
                    <a:p>
                      <a:r>
                        <a:rPr lang="en-US" sz="1100" b="0" i="1" dirty="0"/>
                        <a:t>Expected loss per exposure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279980"/>
                  </a:ext>
                </a:extLst>
              </a:tr>
              <a:tr h="528790">
                <a:tc>
                  <a:txBody>
                    <a:bodyPr/>
                    <a:lstStyle/>
                    <a:p>
                      <a:r>
                        <a:rPr lang="en-US" sz="1400" b="0" dirty="0"/>
                        <a:t>Loss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Loss / Premium</a:t>
                      </a:r>
                    </a:p>
                    <a:p>
                      <a:r>
                        <a:rPr lang="en-US" sz="1100" b="0" i="1" dirty="0"/>
                        <a:t>Share of premium is used to pay losses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858733"/>
                  </a:ext>
                </a:extLst>
              </a:tr>
              <a:tr h="528790">
                <a:tc>
                  <a:txBody>
                    <a:bodyPr/>
                    <a:lstStyle/>
                    <a:p>
                      <a:r>
                        <a:rPr lang="en-US" sz="1400" b="0" dirty="0"/>
                        <a:t>Expense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Expense / Premium</a:t>
                      </a:r>
                    </a:p>
                    <a:p>
                      <a:r>
                        <a:rPr lang="en-US" sz="1100" b="0" i="1" dirty="0"/>
                        <a:t>Share of premium is used to pay expenses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375772"/>
                  </a:ext>
                </a:extLst>
              </a:tr>
              <a:tr h="684897">
                <a:tc>
                  <a:txBody>
                    <a:bodyPr/>
                    <a:lstStyle/>
                    <a:p>
                      <a:r>
                        <a:rPr lang="en-US" sz="1400" b="0" dirty="0"/>
                        <a:t>Combined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(Loss + Expense) / Premium = Loss Ratio + Expense Ratio</a:t>
                      </a:r>
                    </a:p>
                    <a:p>
                      <a:r>
                        <a:rPr lang="en-US" sz="1100" b="0" i="1" dirty="0"/>
                        <a:t>Overall measure of underwriting profitability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20477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5398FC-7713-587E-BA51-5669A371518D}"/>
              </a:ext>
            </a:extLst>
          </p:cNvPr>
          <p:cNvCxnSpPr>
            <a:cxnSpLocks/>
          </p:cNvCxnSpPr>
          <p:nvPr/>
        </p:nvCxnSpPr>
        <p:spPr>
          <a:xfrm>
            <a:off x="6260053" y="2045029"/>
            <a:ext cx="0" cy="429260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11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E197-A406-9667-4771-69AA7D04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Price to Charge?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950E-0946-4702-94B4-529FAFF5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85023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Estimate future </a:t>
            </a:r>
            <a:r>
              <a:rPr lang="en-US" b="1" dirty="0"/>
              <a:t>Loss </a:t>
            </a:r>
            <a:r>
              <a:rPr lang="en-US" dirty="0"/>
              <a:t>&amp; </a:t>
            </a:r>
            <a:r>
              <a:rPr lang="en-US" b="1" dirty="0"/>
              <a:t>Expense </a:t>
            </a:r>
            <a:r>
              <a:rPr lang="en-US" dirty="0"/>
              <a:t>and choose a target </a:t>
            </a:r>
            <a:r>
              <a:rPr lang="en-US" b="1" dirty="0"/>
              <a:t>Combined Ratio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Solve for the </a:t>
            </a:r>
            <a:r>
              <a:rPr lang="en-US" b="1" dirty="0"/>
              <a:t>Premium</a:t>
            </a:r>
            <a:r>
              <a:rPr lang="en-US" dirty="0"/>
              <a:t> needed to support those expected costs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Example, cont’d</a:t>
            </a:r>
            <a:r>
              <a:rPr lang="en-US" dirty="0"/>
              <a:t>: If Exposure = 400, then Average Premium = $1.0M / 400 = $2,500 per Exposure. </a:t>
            </a:r>
            <a:r>
              <a:rPr lang="en-US" b="1" dirty="0"/>
              <a:t>How to achieve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100" b="1" dirty="0">
                <a:solidFill>
                  <a:srgbClr val="3B608B"/>
                </a:solidFill>
              </a:rPr>
              <a:t>Key questions: Which is better? If Option 2, how do we determine who is lower or higher risk- and exactly how much to charge?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8B6F935-385E-5A0F-4599-A2214CF49CF3}"/>
                  </a:ext>
                </a:extLst>
              </p:cNvPr>
              <p:cNvSpPr/>
              <p:nvPr/>
            </p:nvSpPr>
            <p:spPr>
              <a:xfrm>
                <a:off x="1745429" y="2926080"/>
                <a:ext cx="3182470" cy="1005840"/>
              </a:xfrm>
              <a:prstGeom prst="roundRect">
                <a:avLst/>
              </a:prstGeom>
              <a:solidFill>
                <a:srgbClr val="E6EC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3B608B"/>
                    </a:solidFill>
                  </a:rPr>
                  <a:t>Required Premium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𝐿𝑜𝑠𝑠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𝐸𝑥𝑝𝑒𝑛𝑠𝑒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𝑇𝑎𝑟𝑔𝑒𝑡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𝐶𝑅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8B6F935-385E-5A0F-4599-A2214CF49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429" y="2926080"/>
                <a:ext cx="3182470" cy="10058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D234C8-A838-1984-A969-C3152B8FFE0B}"/>
              </a:ext>
            </a:extLst>
          </p:cNvPr>
          <p:cNvSpPr/>
          <p:nvPr/>
        </p:nvSpPr>
        <p:spPr>
          <a:xfrm>
            <a:off x="6427694" y="2926080"/>
            <a:ext cx="4355053" cy="1005840"/>
          </a:xfrm>
          <a:prstGeom prst="roundRect">
            <a:avLst/>
          </a:prstGeom>
          <a:solidFill>
            <a:srgbClr val="ECF2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709679"/>
                </a:solidFill>
              </a:rPr>
              <a:t>Example</a:t>
            </a:r>
            <a:endParaRPr lang="en-US" sz="1600" b="1" dirty="0">
              <a:solidFill>
                <a:srgbClr val="709679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Loss = $650K | Expense = $300K | Target CR = 95%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Required Premium = (650K + 300K) / 0.95 = $1.0M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CCA0FE-FF27-3FE7-6990-A02DC6318D95}"/>
              </a:ext>
            </a:extLst>
          </p:cNvPr>
          <p:cNvSpPr/>
          <p:nvPr/>
        </p:nvSpPr>
        <p:spPr>
          <a:xfrm>
            <a:off x="1745429" y="4441909"/>
            <a:ext cx="3182470" cy="1183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Option 1: Flat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Everyone pays $2,500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Simple, but ignores risk differences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505A67-46BB-5786-2CAF-24A431EFDB4A}"/>
              </a:ext>
            </a:extLst>
          </p:cNvPr>
          <p:cNvSpPr/>
          <p:nvPr/>
        </p:nvSpPr>
        <p:spPr>
          <a:xfrm>
            <a:off x="6458174" y="4441908"/>
            <a:ext cx="3182470" cy="1183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Option 2: Segmented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Charge $2,500 on average, but vary price by risk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Lower-risk customers pay less; higher-risk customers pay more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6A9BE0BA-6139-9C25-7549-E54AAD8FADCE}"/>
              </a:ext>
            </a:extLst>
          </p:cNvPr>
          <p:cNvSpPr/>
          <p:nvPr/>
        </p:nvSpPr>
        <p:spPr>
          <a:xfrm>
            <a:off x="4580965" y="279698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766A1B11-13F8-7949-8A55-53F311F299D0}"/>
              </a:ext>
            </a:extLst>
          </p:cNvPr>
          <p:cNvSpPr/>
          <p:nvPr/>
        </p:nvSpPr>
        <p:spPr>
          <a:xfrm>
            <a:off x="10446571" y="2697480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15D04A9D-A98E-ECF7-E114-B4C9FD58F9E3}"/>
              </a:ext>
            </a:extLst>
          </p:cNvPr>
          <p:cNvSpPr/>
          <p:nvPr/>
        </p:nvSpPr>
        <p:spPr>
          <a:xfrm>
            <a:off x="579120" y="398470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3551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F7040-C4EF-4B17-8D48-980CB887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Adverse Selection: A Simple Marketplace Example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D2AE96-8831-4277-9CA6-679EE114CAD9}"/>
              </a:ext>
            </a:extLst>
          </p:cNvPr>
          <p:cNvSpPr/>
          <p:nvPr/>
        </p:nvSpPr>
        <p:spPr>
          <a:xfrm>
            <a:off x="560959" y="1930792"/>
            <a:ext cx="4554072" cy="20869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Assumptions</a:t>
            </a: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Carriers</a:t>
            </a:r>
            <a:r>
              <a:rPr lang="en-US" sz="1400" dirty="0">
                <a:solidFill>
                  <a:schemeClr val="tx1"/>
                </a:solidFill>
              </a:rPr>
              <a:t>: Two companies with the same expenses, profit targets, and customer experience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Customers</a:t>
            </a:r>
            <a:r>
              <a:rPr lang="en-US" sz="1400" dirty="0">
                <a:solidFill>
                  <a:schemeClr val="tx1"/>
                </a:solidFill>
              </a:rPr>
              <a:t>: Two risk groups: lower risk and higher risk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Expected Cost</a:t>
            </a:r>
            <a:r>
              <a:rPr lang="en-US" sz="1400" dirty="0">
                <a:solidFill>
                  <a:schemeClr val="tx1"/>
                </a:solidFill>
              </a:rPr>
              <a:t>: Good customers cost $2,000 per exposure; Bad customers cost $3,000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Market Mix</a:t>
            </a:r>
            <a:r>
              <a:rPr lang="en-US" sz="1400" dirty="0">
                <a:solidFill>
                  <a:schemeClr val="tx1"/>
                </a:solidFill>
              </a:rPr>
              <a:t>: 80% lower risk; 20% higher risk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Behavior</a:t>
            </a:r>
            <a:r>
              <a:rPr lang="en-US" sz="1400" dirty="0">
                <a:solidFill>
                  <a:schemeClr val="tx1"/>
                </a:solidFill>
              </a:rPr>
              <a:t>: Customers know both prices and choose the cheaper option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C04123-9DBB-442A-8FA5-D53D13A33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849244"/>
              </p:ext>
            </p:extLst>
          </p:nvPr>
        </p:nvGraphicFramePr>
        <p:xfrm>
          <a:off x="5312319" y="1930792"/>
          <a:ext cx="6645834" cy="2138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5278">
                  <a:extLst>
                    <a:ext uri="{9D8B030D-6E8A-4147-A177-3AD203B41FA5}">
                      <a16:colId xmlns:a16="http://schemas.microsoft.com/office/drawing/2014/main" val="1840045140"/>
                    </a:ext>
                  </a:extLst>
                </a:gridCol>
                <a:gridCol w="2215278">
                  <a:extLst>
                    <a:ext uri="{9D8B030D-6E8A-4147-A177-3AD203B41FA5}">
                      <a16:colId xmlns:a16="http://schemas.microsoft.com/office/drawing/2014/main" val="3377438665"/>
                    </a:ext>
                  </a:extLst>
                </a:gridCol>
                <a:gridCol w="2215278">
                  <a:extLst>
                    <a:ext uri="{9D8B030D-6E8A-4147-A177-3AD203B41FA5}">
                      <a16:colId xmlns:a16="http://schemas.microsoft.com/office/drawing/2014/main" val="631356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Company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Company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34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Flat $2,200 per exposure</a:t>
                      </a:r>
                    </a:p>
                    <a:p>
                      <a:r>
                        <a:rPr lang="en-US" sz="1200" dirty="0"/>
                        <a:t>(Weighted Average)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$2,000 for Good; $3,000 for Bad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578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Customer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Looks cheapest to Bad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Looks cheapest to Good 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488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Attracts underpriced Bad customers and loses 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Attracts Good customers and prices them adequately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163395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58B5B5-9589-CAB7-B223-D0A90A9AE2BE}"/>
              </a:ext>
            </a:extLst>
          </p:cNvPr>
          <p:cNvSpPr/>
          <p:nvPr/>
        </p:nvSpPr>
        <p:spPr>
          <a:xfrm>
            <a:off x="354106" y="4171737"/>
            <a:ext cx="11483787" cy="404975"/>
          </a:xfrm>
          <a:prstGeom prst="roundRect">
            <a:avLst/>
          </a:prstGeom>
          <a:solidFill>
            <a:srgbClr val="E6EC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3B608B"/>
                </a:solidFill>
              </a:rPr>
              <a:t>Takeaway: When everyone is charged the same average price, the customers you underprice are more likely to choose you.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C0BA10-5FDE-3C58-F321-CDFEA92D3094}"/>
              </a:ext>
            </a:extLst>
          </p:cNvPr>
          <p:cNvSpPr/>
          <p:nvPr/>
        </p:nvSpPr>
        <p:spPr>
          <a:xfrm>
            <a:off x="384586" y="4678977"/>
            <a:ext cx="11483787" cy="16281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Real life is much more complicated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there are many insurers, many levels of risk, different expenses and profit targets, imperfect information, and customers do not always choose solely on price.</a:t>
            </a:r>
          </a:p>
          <a:p>
            <a:r>
              <a:rPr lang="en-US" b="1" dirty="0">
                <a:solidFill>
                  <a:srgbClr val="709679"/>
                </a:solidFill>
              </a:rPr>
              <a:t>But the core idea still holds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better risk segmentation helps reduce adverse selection, even when it is much harder to observe and measure.</a:t>
            </a:r>
          </a:p>
          <a:p>
            <a:r>
              <a:rPr lang="en-US" b="1" dirty="0">
                <a:solidFill>
                  <a:schemeClr val="tx1"/>
                </a:solidFill>
              </a:rPr>
              <a:t>This is what I do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build models that estimate expected future loss at the individual exposure level so we can better segment risk, set more appropriate prices, and reduce adverse selection.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423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Case Study: French Motor Liability Claims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Modeling Demo in Python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{F109307F-42C9-4F4A-9ADA-C20E02D5DF39}TFf0a5ceae-4542-492d-822e-d65a94fb0e1e3b562c5a_win32-009a0557e699</Template>
  <TotalTime>433</TotalTime>
  <Words>766</Words>
  <Application>Microsoft Office PowerPoint</Application>
  <PresentationFormat>Widescreen</PresentationFormat>
  <Paragraphs>139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Bookman Old Style</vt:lpstr>
      <vt:lpstr>Calibri</vt:lpstr>
      <vt:lpstr>Cambria Math</vt:lpstr>
      <vt:lpstr>Franklin Gothic Book</vt:lpstr>
      <vt:lpstr>Wingdings</vt:lpstr>
      <vt:lpstr>Custom</vt:lpstr>
      <vt:lpstr>Actuarial Predictive Modeling</vt:lpstr>
      <vt:lpstr>About Me</vt:lpstr>
      <vt:lpstr>Before We Begin</vt:lpstr>
      <vt:lpstr>Insurance 101: Terminology</vt:lpstr>
      <vt:lpstr>Key Metrics for Modeling</vt:lpstr>
      <vt:lpstr>What Price to Charge?</vt:lpstr>
      <vt:lpstr>Adverse Selection: A Simple Marketplace Example</vt:lpstr>
      <vt:lpstr>Case Study: French Motor Liability Claims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Warth</dc:creator>
  <cp:lastModifiedBy>Joseph Warth</cp:lastModifiedBy>
  <cp:revision>9</cp:revision>
  <dcterms:created xsi:type="dcterms:W3CDTF">2026-09-25T01:48:38Z</dcterms:created>
  <dcterms:modified xsi:type="dcterms:W3CDTF">2026-09-25T20:53:49Z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